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Epilogue" panose="020B0604020202020204" charset="0"/>
      <p:regular r:id="rId15"/>
    </p:embeddedFont>
    <p:embeddedFont>
      <p:font typeface="Fraunces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36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80583" y="1835967"/>
            <a:ext cx="7037290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Bluestock Mutual Fund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1809246" y="267652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Mutual Fund Analytics Using Python, SQLite &amp; Power BI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759199" y="3295315"/>
            <a:ext cx="1200820" cy="266402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2836001" y="3337805"/>
            <a:ext cx="148790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CAPSTONE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133960" y="3284828"/>
            <a:ext cx="85918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95179" y="3332082"/>
            <a:ext cx="11367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BHAVYA SREE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9731"/>
            <a:ext cx="515421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 Statement &amp; Objectives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1127447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1697" y="125402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Analyze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51697" y="1507182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Indian mutual fund industry data across schemes, NAV, and AUM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919585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1697" y="204616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Build ETL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51697" y="2299320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Design and implement a robust data pipeline for ingestion and transformation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892921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1697" y="301949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Measure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51697" y="3272656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Calculate key performance metrics including CAGR, Sharpe, and Sortino ratios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866257"/>
            <a:ext cx="4722763" cy="687512"/>
          </a:xfrm>
          <a:prstGeom prst="roundRect">
            <a:avLst>
              <a:gd name="adj" fmla="val 744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1697" y="399283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Visualize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51697" y="4245992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 an interactive Power BI dashboard to generate business insights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40903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973857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Eight comprehensive datasets covering the full spectrum of the Indian mutual fund ecosystem.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489" y="1237431"/>
            <a:ext cx="225921" cy="2259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4489" y="157586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NAV History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4489" y="1806327"/>
            <a:ext cx="38411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Daily net asset value records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183" y="1237431"/>
            <a:ext cx="225921" cy="2259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8183" y="1575867"/>
            <a:ext cx="144348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Scheme Performance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28183" y="1806327"/>
            <a:ext cx="38412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Returns and benchmark comparisons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489" y="2148706"/>
            <a:ext cx="225921" cy="2259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4489" y="2487141"/>
            <a:ext cx="147682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Investor Transactions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74489" y="2717602"/>
            <a:ext cx="38411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Purchase and redemption data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183" y="2148706"/>
            <a:ext cx="225921" cy="225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28183" y="248714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SIP Inflows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628183" y="2717602"/>
            <a:ext cx="38412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Systematic investment plan trends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4489" y="3059981"/>
            <a:ext cx="225921" cy="2259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4489" y="339841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AUM Data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74489" y="3628876"/>
            <a:ext cx="38411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Assets under management over time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28183" y="3059981"/>
            <a:ext cx="225921" cy="22592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28183" y="3398416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Category Inflows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628183" y="3628876"/>
            <a:ext cx="38412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Fund category-wise flow analysis</a:t>
            </a:r>
            <a:endParaRPr lang="en-US" sz="8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489" y="3971255"/>
            <a:ext cx="225921" cy="22592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4489" y="430969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Portfolio Holdings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74489" y="4540151"/>
            <a:ext cx="38411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Underlying asset allocations</a:t>
            </a:r>
            <a:endParaRPr lang="en-US" sz="8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28183" y="3971255"/>
            <a:ext cx="225921" cy="22592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628183" y="430969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Nifty Benchmarks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4628183" y="4540151"/>
            <a:ext cx="38412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 index reference data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94246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Architecture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82" y="872430"/>
            <a:ext cx="6408762" cy="350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2684" y="2513326"/>
            <a:ext cx="1484960" cy="202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ETL Pipeline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62460" y="2490540"/>
            <a:ext cx="1484960" cy="202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130673" y="2497836"/>
            <a:ext cx="1484960" cy="202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Insights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80182" y="4460379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structured, reproducible pipeline transforms raw Indian mutual fund data into actionable business insights — from ingestion through visualization.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562" y="318390"/>
            <a:ext cx="562525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EDA Highlights — Industry Growth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996136" y="1081088"/>
            <a:ext cx="20842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AUM Growth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6136" y="1383432"/>
            <a:ext cx="2656433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Examined total assets under management across fund categories to identify expansion patterns and category-level growth trajectories in the Indian mutual fund industry.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6136" y="242210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NAV Trend Analysis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6136" y="272444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Tracked net asset value movements over time to understand fund performance dynamics and market-wide valuation trends.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6136" y="357708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6136" y="387942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Consistent industry expansion observed across multiple fund categories, reflecting growing investor participation in the Indian mutual fund market.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DDC0BE-AA05-5FBD-FE94-30DEBB3B3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9" y="886912"/>
            <a:ext cx="5474284" cy="18622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B0D491-6C06-4168-251A-C6D16BCC9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17" y="2930167"/>
            <a:ext cx="5470052" cy="20990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555" y="359954"/>
            <a:ext cx="55038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EDA Highlights — Investor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108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SIP Trend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383432"/>
            <a:ext cx="2656433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Analyzed systematic investment plan inflows to assess recurring investment behavior and gauge the growing adoption of disciplined investing among retail participants.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422103"/>
            <a:ext cx="20843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Folio Growth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72444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Studied investor folio expansion over time to measure the depth of market penetration and track the growth of the active investor base.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3577084"/>
            <a:ext cx="20835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Investor Participation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387942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Combined SIP and folio insights to reveal increasing retail engagement and a broadening investor base across the Indian mutual fund landscape.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A317B2-BBE8-CAFF-D3E4-F31F15A4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095" y="2907802"/>
            <a:ext cx="4451414" cy="2116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FC8909-4DB9-94D4-F692-9929281F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354" y="789067"/>
            <a:ext cx="4437318" cy="1976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09203"/>
            <a:ext cx="336329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Performance Analytics</a:t>
            </a:r>
            <a:endParaRPr lang="en-US" sz="2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61045"/>
            <a:ext cx="4722763" cy="9085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93727" y="940743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16669" y="128632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CAGR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6669" y="1500188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Compound Annual Growth Rate — measures long-term fund returns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49264"/>
            <a:ext cx="4722763" cy="9085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93727" y="1928961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6669" y="227454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16669" y="2488406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Risk-adjusted return relative to total volatility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37483"/>
            <a:ext cx="4722763" cy="9085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93727" y="2917180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6669" y="326275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Sortino Ratio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16669" y="3476625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Downside risk-adjusted performance metric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25701"/>
            <a:ext cx="4722763" cy="9085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793727" y="3905399"/>
            <a:ext cx="12754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16669" y="425097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Fund Ranking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16669" y="4464844"/>
            <a:ext cx="448166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Comparative ranking of schemes across categories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997C59-CF7A-0FF4-C421-C0D518934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345" y="1009873"/>
            <a:ext cx="3263348" cy="3603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269"/>
            <a:ext cx="46168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Advanced Risk Analytics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0632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35284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Alpha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71606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Excess return vs. benchmark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470" y="1206326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4991" y="1352848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Beta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64991" y="1716063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 sensitivity measure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457971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604492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Max Drawdown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967707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Peak-to-trough loss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8470" y="2457971"/>
            <a:ext cx="1880592" cy="883072"/>
          </a:xfrm>
          <a:prstGeom prst="roundRect">
            <a:avLst>
              <a:gd name="adj" fmla="val 674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4991" y="2604492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64991" y="2967707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Value at Risk estimate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82801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629323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CVaR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992538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Conditional VaR (tail risk)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8470" y="3482801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4991" y="3629323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Rolling Sharpe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64991" y="3992538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Time-varying risk-adjusted returns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1881" y="1174403"/>
            <a:ext cx="4155307" cy="789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These six advanced metrics provide a comprehensive risk profile for each fund — from market sensitivity (Beta) and tail-risk exposure (VaR, CVaR) to consistency of risk-adjusted performance (Rolling Sharpe).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6D360AE-08F9-1203-BB80-44FA28B78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795" y="2030548"/>
            <a:ext cx="4541799" cy="2733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623"/>
            <a:ext cx="85263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Overview — Industry &amp; Fund Performance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999708" y="1136228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9708" y="1445940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At-a-glance summary metrics including total AUM, scheme count, and category-level aggregates for quick industry health assessment.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9708" y="2322165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AUM Trend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9708" y="2631877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Visual timeline of assets under management growth, enabling identification of expansion patterns and category-wise performance shifts.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3508102"/>
            <a:ext cx="253960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Fund Performance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9708" y="3817813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Comparative charts and tables for evaluating scheme returns, rankings, and benchmark-relative performance across fund categories.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C103E8-B2B0-F30B-B632-60A82BCF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31" y="964505"/>
            <a:ext cx="5171614" cy="1968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9BC540-BC6A-2862-69D1-EA6C84B6A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47" y="3094543"/>
            <a:ext cx="5171613" cy="1968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428" y="80799"/>
            <a:ext cx="85557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Overview — Investor &amp; SIP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8" y="3287752"/>
            <a:ext cx="2974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Investor Analytics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8" y="3718951"/>
            <a:ext cx="346281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Folio growth trends, investor segmentation, and participation metrics across demographics and geographies.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65617" y="3245080"/>
            <a:ext cx="2599133" cy="47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SIP Market Trends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350623" y="3687779"/>
            <a:ext cx="3297259" cy="1374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Systematic investment plan inflow patterns, category-wise SIP adoption, and recurring investment behavior analysis.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17DCE-3DEF-5C73-DD63-97E63700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64" y="752384"/>
            <a:ext cx="3927403" cy="22505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4C63CE-19FE-89B8-B95B-11DC6AA05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535" y="814642"/>
            <a:ext cx="3668518" cy="2126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CE510A-390F-26E0-52B1-BBEE4540B028}"/>
              </a:ext>
            </a:extLst>
          </p:cNvPr>
          <p:cNvSpPr/>
          <p:nvPr/>
        </p:nvSpPr>
        <p:spPr>
          <a:xfrm>
            <a:off x="496119" y="82904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BD822F0-3FE8-159E-5128-30FC20767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55552"/>
            <a:ext cx="2641774" cy="130857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C858F76-8053-D851-A59D-1EF8DE947D7B}"/>
              </a:ext>
            </a:extLst>
          </p:cNvPr>
          <p:cNvSpPr/>
          <p:nvPr/>
        </p:nvSpPr>
        <p:spPr>
          <a:xfrm>
            <a:off x="714077" y="17163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SIP Inflows</a:t>
            </a:r>
            <a:endParaRPr lang="en-US" sz="13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6682D10-B080-483C-C5D5-D47234DD5F1E}"/>
              </a:ext>
            </a:extLst>
          </p:cNvPr>
          <p:cNvSpPr/>
          <p:nvPr/>
        </p:nvSpPr>
        <p:spPr>
          <a:xfrm>
            <a:off x="714077" y="202287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SIP inflows increased consistently across the study period.</a:t>
            </a:r>
            <a:endParaRPr lang="en-US" sz="11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3E836AA-6905-969F-3EFB-0A61F0FCB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555552"/>
            <a:ext cx="2641774" cy="1308571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E935655-E70B-5EFC-0A81-3211CB1D5F99}"/>
              </a:ext>
            </a:extLst>
          </p:cNvPr>
          <p:cNvSpPr/>
          <p:nvPr/>
        </p:nvSpPr>
        <p:spPr>
          <a:xfrm>
            <a:off x="3478560" y="1716360"/>
            <a:ext cx="21737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Equity Fund Performance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22E41EA-A579-295B-C9F1-4942FB7024AA}"/>
              </a:ext>
            </a:extLst>
          </p:cNvPr>
          <p:cNvSpPr/>
          <p:nvPr/>
        </p:nvSpPr>
        <p:spPr>
          <a:xfrm>
            <a:off x="3478560" y="202287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Equity funds outperformed over the long term.</a:t>
            </a:r>
            <a:endParaRPr lang="en-US" sz="11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747A0D75-4557-0FB2-633B-96D323185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555552"/>
            <a:ext cx="2641774" cy="130857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9EC13283-BAC4-D7FE-8CF6-703743645531}"/>
              </a:ext>
            </a:extLst>
          </p:cNvPr>
          <p:cNvSpPr/>
          <p:nvPr/>
        </p:nvSpPr>
        <p:spPr>
          <a:xfrm>
            <a:off x="6243042" y="1716360"/>
            <a:ext cx="19193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Risk-Adjusted Returns</a:t>
            </a:r>
            <a:endParaRPr lang="en-US" sz="13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746BBB9-B5C2-0AD5-A047-C1B9373D1501}"/>
              </a:ext>
            </a:extLst>
          </p:cNvPr>
          <p:cNvSpPr/>
          <p:nvPr/>
        </p:nvSpPr>
        <p:spPr>
          <a:xfrm>
            <a:off x="6243042" y="202287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Risk-adjusted returns varied significantly across fund categories.</a:t>
            </a:r>
            <a:endParaRPr lang="en-US" sz="11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3A25936B-97D5-04FA-7A49-A91938FA0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005882"/>
            <a:ext cx="2641774" cy="130857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C1D7AEE-0D63-007D-3883-55DE257E089F}"/>
              </a:ext>
            </a:extLst>
          </p:cNvPr>
          <p:cNvSpPr/>
          <p:nvPr/>
        </p:nvSpPr>
        <p:spPr>
          <a:xfrm>
            <a:off x="714077" y="3166690"/>
            <a:ext cx="18581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Investor Participation</a:t>
            </a:r>
            <a:endParaRPr lang="en-US" sz="13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0FDCCA8-BF21-34A2-846D-0F928E0FC462}"/>
              </a:ext>
            </a:extLst>
          </p:cNvPr>
          <p:cNvSpPr/>
          <p:nvPr/>
        </p:nvSpPr>
        <p:spPr>
          <a:xfrm>
            <a:off x="714077" y="347320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Investor participation increased throughout the period.</a:t>
            </a:r>
            <a:endParaRPr lang="en-US" sz="110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1031D477-4375-756D-2EC8-1EDEE20F2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3005882"/>
            <a:ext cx="2641774" cy="1308571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288689D5-17C0-4D98-FCEF-D8FA1E4963F7}"/>
              </a:ext>
            </a:extLst>
          </p:cNvPr>
          <p:cNvSpPr/>
          <p:nvPr/>
        </p:nvSpPr>
        <p:spPr>
          <a:xfrm>
            <a:off x="3478560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Concentration Risk</a:t>
            </a:r>
            <a:endParaRPr lang="en-US" sz="13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F2BEDBE-F77D-6740-A96C-D03A53F06560}"/>
              </a:ext>
            </a:extLst>
          </p:cNvPr>
          <p:cNvSpPr/>
          <p:nvPr/>
        </p:nvSpPr>
        <p:spPr>
          <a:xfrm>
            <a:off x="3478560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Some funds showed high concentration risk.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353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58FA4F-E9CD-E5E6-BA3A-4C7C48B7262F}"/>
              </a:ext>
            </a:extLst>
          </p:cNvPr>
          <p:cNvSpPr/>
          <p:nvPr/>
        </p:nvSpPr>
        <p:spPr>
          <a:xfrm>
            <a:off x="496119" y="978619"/>
            <a:ext cx="46131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 &amp; Thank You</a:t>
            </a:r>
            <a:endParaRPr lang="en-US" sz="2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3C825A7-7A22-6456-2ADD-7B64D0C6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82D4D338-51B3-B5C0-871B-32C8EC756CAC}"/>
              </a:ext>
            </a:extLst>
          </p:cNvPr>
          <p:cNvSpPr/>
          <p:nvPr/>
        </p:nvSpPr>
        <p:spPr>
          <a:xfrm>
            <a:off x="4749701" y="2344564"/>
            <a:ext cx="3902943" cy="1109886"/>
          </a:xfrm>
          <a:prstGeom prst="roundRect">
            <a:avLst>
              <a:gd name="adj" fmla="val 536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C76559D-14A6-3A6A-F1B4-43CFE88A3B7D}"/>
              </a:ext>
            </a:extLst>
          </p:cNvPr>
          <p:cNvSpPr/>
          <p:nvPr/>
        </p:nvSpPr>
        <p:spPr>
          <a:xfrm>
            <a:off x="4896222" y="24910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Completed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2043DA-93BA-D405-4DDA-A738846074A0}"/>
              </a:ext>
            </a:extLst>
          </p:cNvPr>
          <p:cNvSpPr/>
          <p:nvPr/>
        </p:nvSpPr>
        <p:spPr>
          <a:xfrm>
            <a:off x="4896222" y="2854300"/>
            <a:ext cx="36099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Project successfully completed, demonstrating an end-to-end analytics workflow.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4750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618</Words>
  <Application>Microsoft Office PowerPoint</Application>
  <PresentationFormat>On-screen Show (16:9)</PresentationFormat>
  <Paragraphs>113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Epilogue</vt:lpstr>
      <vt:lpstr>Fraunces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KB</dc:creator>
  <cp:lastModifiedBy>Bhavya Sree</cp:lastModifiedBy>
  <cp:revision>3</cp:revision>
  <dcterms:created xsi:type="dcterms:W3CDTF">2026-06-12T11:11:56Z</dcterms:created>
  <dcterms:modified xsi:type="dcterms:W3CDTF">2026-06-12T11:37:17Z</dcterms:modified>
</cp:coreProperties>
</file>